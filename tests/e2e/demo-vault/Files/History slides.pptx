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</p:txBody>
      </p:sp>
      <p:sp>
        <p:nvSpPr>
          <p:cNvPr id="3" name="Body"/>
          <p:cNvSpPr/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</p:txBody>
      </p:sp>
    </p:spTree>
  </p:cSld>
</p:sldLayout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pPr lvl="0"/>
            <a:r>
              <a:rPr lang="en-AU" sz="4000"/>
              <a:t>Causes of World War One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838200" y="1825625"/>
            <a:ext cx="6000000" cy="4351338"/>
          </a:xfrm>
        </p:spPr>
        <p:txBody>
          <a:bodyPr/>
          <a:lstStyle/>
          <a:p>
            <a:pPr lvl="0"/>
            <a:r>
              <a:rPr lang="en-AU"/>
              <a:t>Militarism — the arms race</a:t>
            </a:r>
          </a:p>
          <a:p>
            <a:pPr lvl="0"/>
            <a:r>
              <a:rPr lang="en-AU"/>
              <a:t>Alliances — two armed camps</a:t>
            </a:r>
          </a:p>
          <a:p>
            <a:pPr lvl="1"/>
            <a:r>
              <a:rPr lang="en-AU"/>
              <a:t>Triple Entente</a:t>
            </a:r>
          </a:p>
          <a:p>
            <a:pPr lvl="0"/>
            <a:r>
              <a:rPr lang="en-AU"/>
              <a:t>Imperialism</a:t>
            </a:r>
          </a:p>
          <a:p>
            <a:pPr lvl="0"/>
            <a:r>
              <a:rPr lang="en-AU"/>
              <a:t>Nationalism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</p:blipFill>
        <p:spPr>
          <a:xfrm>
            <a:off x="7300000" y="1900000"/>
            <a:ext cx="3800000" cy="3800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pPr lvl="0"/>
            <a:r>
              <a:rPr lang="en-AU"/>
              <a:t>Timeline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838200" y="1825625"/>
          <a:ext cx="10515600" cy="2000000"/>
        </p:xfrm>
        <a:graphic>
          <a:graphicData uri="http://schemas.openxmlformats.org/drawingml/2006/table">
            <a:tbl>
              <a:tblGrid>
                <a:gridCol w="3000000"/>
                <a:gridCol w="7515600"/>
              </a:tblGrid>
              <a:tr h="400000">
                <a:tc>
                  <a:txBody>
                    <a:bodyPr/>
                    <a:p>
                      <a:r>
                        <a:t>1914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Assassination in Sarajevo</a:t>
                      </a:r>
                    </a:p>
                  </a:txBody>
                </a:tc>
              </a:tr>
              <a:tr h="400000">
                <a:tc>
                  <a:txBody>
                    <a:bodyPr/>
                    <a:p>
                      <a:r>
                        <a:t>1916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Battle of the Somme</a:t>
                      </a:r>
                    </a:p>
                  </a:txBody>
                </a:tc>
              </a:tr>
              <a:tr h="400000">
                <a:tc>
                  <a:txBody>
                    <a:bodyPr/>
                    <a:p>
                      <a:r>
                        <a:t>1918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Armistice</a:t>
                      </a:r>
                    </a:p>
                  </a:txBody>
                </a:tc>
              </a:tr>
            </a:tbl>
          </a:graphicData>
        </a:graphic>
      </p:graphicFrame>
      <p:grpSp>
        <p:nvGrpSpPr>
          <p:cNvPr id="6" name="Group"/>
          <p:cNvGrpSpPr/>
          <p:nvPr/>
        </p:nvGrpSpPr>
        <p:grpSpPr>
          <a:xfrm>
            <a:off x="838200" y="4300000"/>
            <a:ext cx="4000000" cy="1500000"/>
            <a:chOff x="0" y="0"/>
            <a:chExt cx="4000000" cy="1500000"/>
          </a:xfrm>
        </p:grpSpPr>
        <p:sp>
          <p:nvSpPr>
            <p:cNvPr id="7" name="Note box"/>
            <p:cNvSpPr/>
            <p:nvPr/>
          </p:nvSpPr>
          <p:spPr>
            <a:xfrm>
              <a:off x="0" y="0"/>
              <a:ext cx="4000000" cy="1500000"/>
            </a:xfrm>
          </p:spPr>
          <p:txBody>
            <a:bodyPr/>
            <a:lstStyle/>
            <a:p>
              <a:pPr lvl="0"/>
              <a:r>
                <a:rPr lang="en-AU" sz="2000" b="1"/>
                <a:t>Grouped text box</a:t>
              </a:r>
            </a:p>
          </p:txBody>
        </p:sp>
      </p:grpSp>
    </p:spTree>
  </p:cSld>
</p:sld>
</file>